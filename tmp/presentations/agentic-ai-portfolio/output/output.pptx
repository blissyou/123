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78737d2c541e8" /><Relationship Type="http://schemas.openxmlformats.org/officeDocument/2006/relationships/extended-properties" Target="/docProps/app.xml" Id="R8966a8f75ef94fcf" /><Relationship Type="http://schemas.openxmlformats.org/officeDocument/2006/relationships/officeDocument" Target="/ppt/presentation.xml" Id="R3b83ab71c0de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ddb1d2e1147f9"/>
  </p:sldMasterIdLst>
  <p:notesMasterIdLst>
    <p:notesMasterId xmlns:r="http://schemas.openxmlformats.org/officeDocument/2006/relationships" r:id="Rc9041e9e6d5540ab"/>
  </p:notesMasterIdLst>
  <p:sldIdLst>
    <p:sldId xmlns:r="http://schemas.openxmlformats.org/officeDocument/2006/relationships" id="256" r:id="R828a98a32d414700"/>
    <p:sldId xmlns:r="http://schemas.openxmlformats.org/officeDocument/2006/relationships" id="257" r:id="Ra0e1016fd5c54773"/>
    <p:sldId xmlns:r="http://schemas.openxmlformats.org/officeDocument/2006/relationships" id="258" r:id="R1ae66fdeb8224f3a"/>
    <p:sldId xmlns:r="http://schemas.openxmlformats.org/officeDocument/2006/relationships" id="259" r:id="Ra72b54544e664d5b"/>
    <p:sldId xmlns:r="http://schemas.openxmlformats.org/officeDocument/2006/relationships" id="260" r:id="R6d9c0dbed2ef41cd"/>
    <p:sldId xmlns:r="http://schemas.openxmlformats.org/officeDocument/2006/relationships" id="261" r:id="R051744fb68334e3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ddb1d2e1147f9" /><Relationship Type="http://schemas.openxmlformats.org/officeDocument/2006/relationships/theme" Target="/ppt/theme/theme1.xml" Id="R8fab90b78dbb481e" /><Relationship Type="http://schemas.openxmlformats.org/officeDocument/2006/relationships/notesMaster" Target="/ppt/notesMasters/notesMaster1.xml" Id="Rc9041e9e6d5540ab" /><Relationship Type="http://schemas.openxmlformats.org/officeDocument/2006/relationships/presProps" Target="/ppt/presProps.xml" Id="Re74289396d224b30" /><Relationship Type="http://schemas.openxmlformats.org/officeDocument/2006/relationships/viewProps" Target="/ppt/viewProps.xml" Id="R01674b70f8434361" /><Relationship Type="http://schemas.openxmlformats.org/officeDocument/2006/relationships/tableStyles" Target="/ppt/tableStyles.xml" Id="R9374ed7858d14c38" /><Relationship Type="http://schemas.openxmlformats.org/officeDocument/2006/relationships/slide" Target="/ppt/slides/slide1.xml" Id="R828a98a32d414700" /><Relationship Type="http://schemas.openxmlformats.org/officeDocument/2006/relationships/slide" Target="/ppt/slides/slide2.xml" Id="Ra0e1016fd5c54773" /><Relationship Type="http://schemas.openxmlformats.org/officeDocument/2006/relationships/slide" Target="/ppt/slides/slide3.xml" Id="R1ae66fdeb8224f3a" /><Relationship Type="http://schemas.openxmlformats.org/officeDocument/2006/relationships/slide" Target="/ppt/slides/slide4.xml" Id="Ra72b54544e664d5b" /><Relationship Type="http://schemas.openxmlformats.org/officeDocument/2006/relationships/slide" Target="/ppt/slides/slide5.xml" Id="R6d9c0dbed2ef41cd" /><Relationship Type="http://schemas.openxmlformats.org/officeDocument/2006/relationships/slide" Target="/ppt/slides/slide6.xml" Id="R051744fb6833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67925434e245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fe20c66304fba" /><Relationship Type="http://schemas.openxmlformats.org/officeDocument/2006/relationships/notesMaster" Target="/ppt/notesMasters/notesMaster1.xml" Id="R1b3239b4318f46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6397c96e1472d" /><Relationship Type="http://schemas.openxmlformats.org/officeDocument/2006/relationships/notesMaster" Target="/ppt/notesMasters/notesMaster1.xml" Id="Rb2a6ac024df24f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dcf5fe7fc14864" /><Relationship Type="http://schemas.openxmlformats.org/officeDocument/2006/relationships/notesMaster" Target="/ppt/notesMasters/notesMaster1.xml" Id="R687be626f38b43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de60cc36f94e3c" /><Relationship Type="http://schemas.openxmlformats.org/officeDocument/2006/relationships/notesMaster" Target="/ppt/notesMasters/notesMaster1.xml" Id="Rde66d16f95af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627014ce294b2c" /><Relationship Type="http://schemas.openxmlformats.org/officeDocument/2006/relationships/notesMaster" Target="/ppt/notesMasters/notesMaster1.xml" Id="Rcd23d347b21d40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5bee924e0a4ed8" /><Relationship Type="http://schemas.openxmlformats.org/officeDocument/2006/relationships/notesMaster" Target="/ppt/notesMasters/notesMaster1.xml" Id="Re65b1d4f840c42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cec73158642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ea39f8f15b442d" /><Relationship Type="http://schemas.openxmlformats.org/officeDocument/2006/relationships/slideLayout" Target="/ppt/slideLayouts/slideLayout2.xml" Id="Ra196b753e1e1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96b753e1e1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dcae8b05b4c07" /><Relationship Type="http://schemas.openxmlformats.org/officeDocument/2006/relationships/notesSlide" Target="/ppt/notesSlides/notesSlide1.xml" Id="Ra95d2333270441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28afd778044a83" /><Relationship Type="http://schemas.openxmlformats.org/officeDocument/2006/relationships/notesSlide" Target="/ppt/notesSlides/notesSlide2.xml" Id="R83283dc32a4d43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f67e875894e3e" /><Relationship Type="http://schemas.openxmlformats.org/officeDocument/2006/relationships/notesSlide" Target="/ppt/notesSlides/notesSlide3.xml" Id="Rf5524ee5330641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6aa3e8419f483e" /><Relationship Type="http://schemas.openxmlformats.org/officeDocument/2006/relationships/notesSlide" Target="/ppt/notesSlides/notesSlide4.xml" Id="R0b47f601251848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4518b013144f8" /><Relationship Type="http://schemas.openxmlformats.org/officeDocument/2006/relationships/notesSlide" Target="/ppt/notesSlides/notesSlide5.xml" Id="R8c5473f64e9c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e201526674222" /><Relationship Type="http://schemas.openxmlformats.org/officeDocument/2006/relationships/notesSlide" Target="/ppt/notesSlides/notesSlide6.xml" Id="Rf374c6fe44ea46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F5258A4-7D95-41D2-B04A-41824CDD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555CC-CB55-4B89-A98F-A6EBD4E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8001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9E78B-2CCB-4BB8-AC66-D8BD18AB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8191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D4C8"/>
          </a:solidFill>
          <a:ln xmlns:a="http://schemas.openxmlformats.org/drawingml/2006/main" w="9525">
            <a:solidFill>
              <a:srgbClr val="60D4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A408D-B611-438F-936E-4A83D136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75247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27A"/>
          </a:solidFill>
          <a:ln xmlns:a="http://schemas.openxmlformats.org/drawingml/2006/main" w="9525">
            <a:solidFill>
              <a:srgbClr val="F5D2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89854-8378-4F19-9769-6F959527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437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A73"/>
          </a:solidFill>
          <a:ln xmlns:a="http://schemas.openxmlformats.org/drawingml/2006/main" w="9525">
            <a:solidFill>
              <a:srgbClr val="EF7A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B93D3-D5F9-4BE6-97FC-EC17FAF9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기술 포트폴리오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335C4-292A-497F-BCD4-4FE412FE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781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에이전틱 AI 기반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업무 자동화 기술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EFDB0-6743-432A-B159-E15A20B0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자비스형 개인 비서 시스템을 중심으로 본</a:t>
            </a:r>
          </a:p>
          <a:p xmlns:a="http://schemas.openxmlformats.org/drawingml/2006/main">
            <a:pPr algn="l">
              <a:defRPr sz="21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개발연구·서비스혁신·중기연구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56A18-62E9-4926-81A5-A976B29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8C6D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A8C6DA"/>
                </a:solidFill>
                <a:latin typeface="Malgun Gothic"/>
                <a:ea typeface="Malgun Gothic"/>
                <a:cs typeface="Malgun Gothic"/>
              </a:rPr>
              <a:t>핵심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6DB2C-8FD8-41D8-B494-6F815F9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52800"/>
            <a:ext cx="590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AI는 이제 답변을 넘어서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스스로 계획하고 실행하는가?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E3CFC-78D9-4AD4-8793-5BC38942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340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8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일정 관리, 문서 작성, 정보 검색, 후속 조치까지 하나의 흐름으로 연결하는 지능형 자동화가 핵심입니다.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34692-87C8-4E6D-9037-E60BD8E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000875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C6D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A8C6DA"/>
                </a:solidFill>
                <a:latin typeface="Malgun Gothic"/>
                <a:ea typeface="Malgun Gothic"/>
                <a:cs typeface="Malgun Gothic"/>
              </a:rPr>
              <a:t>발표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2BB8D-FB3B-4146-B3F9-53180106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429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기술 개념과 중요성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포트폴리오 3축 분석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산업동향과 사업화 평가</a:t>
            </a:r>
          </a:p>
        </p:txBody>
      </p:sp>
    </p:spTree>
    <p:extLst>
      <p:ext uri="{BB962C8B-B14F-4D97-AF65-F5344CB8AC3E}">
        <p14:creationId xmlns:p14="http://schemas.microsoft.com/office/powerpoint/2010/main" val="2012275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F8C0440-AFB6-43E6-B494-0611AD1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FB0BF-7F4B-4A43-9435-9AEC7316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10C6-C845-4B91-8A9E-FAD3CDA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0D4C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60D4C8"/>
                </a:solidFill>
                <a:latin typeface="Malgun Gothic"/>
                <a:ea typeface="Malgun Gothic"/>
                <a:cs typeface="Malgun Gothic"/>
              </a:rPr>
              <a:t>개념 정의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1635C-1932-445D-8A87-6E1D5365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4000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에이전틱 AI는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'대답하는 AI'가 아니라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'행동하는 AI'입니다.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5FF5D-DA30-49E1-9301-1A69ED2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8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사용자 목표를 이해하고, 필요한 순서를 계획한 뒤, 여러 도구를 호출해 실제 업무를 처리하는 구조입니다.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FCEB1-52BC-44BC-86FA-252E1487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자비스 프로젝트와 연결되는 동작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244E3-3CA5-44FD-89E1-08FB73E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2095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6D739-BBDC-4677-A5A1-DFAF2603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526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사용자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22B7E-F7A3-4781-A025-3C282CB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회의록 정리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일정 관리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4547D-5125-4D53-BB49-2CF903D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2095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73AFB-2894-44CA-8FC5-D86342A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계획 수립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22D3-95D0-4B77-8B62-E0158F60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우선순위 판단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작업 순서 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02589-3D40-4843-93C7-A15253E4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05000"/>
            <a:ext cx="2095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7D70E-99FC-4443-BEDE-3E823ADA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1526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도구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65F74-4A97-4BDB-86C4-3577D24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479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문서 작성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검색·API 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5DDA4-C830-413E-B07C-6A67481C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1905000"/>
            <a:ext cx="2095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CE7E2"/>
          </a:solidFill>
          <a:ln xmlns:a="http://schemas.openxmlformats.org/drawingml/2006/main" w="9525">
            <a:solidFill>
              <a:srgbClr val="FC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B2719-F3B4-4DB2-B3A3-F2CA9E8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21526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9525">
            <a:solidFill>
              <a:srgbClr val="FCE7E2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결과 보고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81BE2-98F8-410D-B010-F0D324DF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26479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9525">
            <a:solidFill>
              <a:srgbClr val="FCE7E2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정리·후속조치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다음 행동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06089-FD02-4348-B4FB-543FFCC2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일반 챗봇과의 차이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64626-3042-4808-B680-1865310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일반 챗봇은 질문에 답하고 끝나지만, 에이전틱 AI는 일정 정리, 메일 초안, 후속 작업 생성처럼 여러 단계를 연속 수행합니다.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614E8-5974-4D7A-A4FF-2958D134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76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자비스형 시스템의 의미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C0066-7ACD-4E2B-BC4A-593F5129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530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네 프로젝트는 목표 해석, 작업 계획, 도구 실행, 결과 보고가 연결된 개인 비서형 AI이므로 에이전틱 AI의 대표적 응용 사례로 설명할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084136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2D9487E-A058-4D9C-80A1-92B23FD3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458F-93C1-44AE-9CE1-2D4EA0E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82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기술 포트폴리오 3축 배치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0B38F-3CAC-4C3C-8A5A-FD7D0EB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504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에이전틱 AI 기반 업무 자동화 기술은 기존 AI와 자동화 기술을 결합해 실사용 시스템으로 구현하는 프로젝트이므로 아래 위치가 가장 적절합니다.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8E73C-B45E-451E-8A83-CED3D7EC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7DB6E-896B-484C-A460-5D1D2D85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4ADB8-6D06-496B-9D34-BB66D80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3E5AE-508E-4BC7-9AFB-776E6CE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E9077-E307-4B4A-9632-DEEFAED5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114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5357C-0FE8-4598-9116-95F38B8D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1114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선정 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BDAAC-6FE3-4946-8BFB-B88791B1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C7990-345A-4C22-9E25-F52C916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37A11-754F-4DD5-9B2E-9C53FB6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1114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AA1EB-33BC-4BD9-BCE5-29E1563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연구의 성격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B18AD-5DBA-419B-A9B3-434D9190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개발연구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64246-237A-4F75-926B-4C38EA5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1061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기존 LLM·API·자동화 기술을 결합해 실제로 동작하는 시스템을 구현하는 성격이 가장 강함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83934-EF0C-4C83-8D19-EE78E6B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27E0B-D113-445E-B5C6-4C10E09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D79C6-CE19-456D-A208-6E9A066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1114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7D8C0-FC56-4617-8A00-CFA24DA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혁신의 유형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BA80F-816E-407F-B192-102A243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서비스혁신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ED88F-E417-4C04-97DE-08E0FDD6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38750"/>
            <a:ext cx="1061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물리적 제품보다 사용자의 업무 방식과 서비스 제공 구조를 바꾸며 생산성을 높이는 디지털 혁신에 해당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3E6B3-2C31-4A44-B5EF-44DCA85B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913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39C70-207D-40CD-824A-4CF6EE7B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913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2C13A-2E90-4D47-9019-C8B2527E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91300"/>
            <a:ext cx="1114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37CFF-321A-4F3F-AAE5-189CB5B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485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연구 기간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2E61C-6DF9-4E8A-93D5-90F35CF6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0485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중기연구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3BC829-B95C-44BB-950A-3342C5F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934200"/>
            <a:ext cx="1061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프로토타입 이후에도 정확도, 보안, 권한 통제, 사용자 경험을 계속 고도화해야 하므로 중기 관점이 적절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86612-DC6A-4630-9F9B-5518CF34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교수님 포인트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05D7E-1A5A-4125-A9B0-D136A59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106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기초연구가 아니라는 점을 분명히 하고, '실제 구현과 서비스 적용성'을 강조하면 논리가 더 선명해집니다.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D41D0-F22A-4428-BEBD-901BAF3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85725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발표 연결 문장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7EDBE-EA55-4B7B-813B-7050B74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0106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즉, 이 기술은 새로운 과학 원리의 발견보다 기존 기술을 실제 업무 흐름에 맞게 구현하는 개발연구 성격이 강합니다.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CAADC-F399-4AF8-B7BE-A922CAC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5725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나의 프로젝트와 연결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A1274-A8B9-40F8-92EE-3B4BB87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90106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8FA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자비스 프로젝트는 단순 챗봇이 아니라 업무를 실행하는 시스템이므로 서비스혁신과 중기 고도화 관점이 자연스럽습니다.</a:t>
            </a:r>
          </a:p>
        </p:txBody>
      </p:sp>
    </p:spTree>
    <p:extLst>
      <p:ext uri="{BB962C8B-B14F-4D97-AF65-F5344CB8AC3E}">
        <p14:creationId xmlns:p14="http://schemas.microsoft.com/office/powerpoint/2010/main" val="6037208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1118015-18C2-4104-854F-52A6C920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0F71F-0FCC-49DB-8A04-D201375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82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산업 동향과 기술 발전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E0A34-FB70-463F-9D5C-77A0EBA7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524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에이전틱 AI는 아직 초기 상용화 단계이지만, 글로벌 빅테크와 기업용 소프트웨어 기업들이 빠르게 제품화하고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A109D-50C8-43B9-9B6B-5C7B68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713E0-B50B-4613-8B54-979AF945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B5D59-F71B-4D62-9730-B75CBE3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67125"/>
            <a:ext cx="4343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7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D7E4EE"/>
                </a:solidFill>
                <a:latin typeface="Malgun Gothic"/>
                <a:ea typeface="Malgun Gothic"/>
                <a:cs typeface="Malgun Gothic"/>
              </a:rPr>
              <a:t>2026년 말까지 기업용 앱의 40%가 작업 특화 AI 에이전트를 포함할 것으로 Gartner는 전망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07A35-C63A-4578-8D47-EFC041D8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1D52-D79F-4826-B3EA-8E8D526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41CF5-683C-4E89-9FC8-D6258941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67125"/>
            <a:ext cx="4343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2029년까지 common customer service 이슈의 80%를 agentic AI가 자율 해결할 수 있다고 전망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59478-FE69-4036-A4DE-5490A9F9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571750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ECF05-3F40-4099-9E08-298220D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8575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핵심 기업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C50CC-78DC-43DC-9B9A-26FF2AC5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667125"/>
            <a:ext cx="4343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Microsoft, Salesforce, Google, OpenAI, IBM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Copilot Studio와 Agentforce가 대표 사례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60736-4E92-49CE-87DC-049F9C36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현재 기술 수준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D9E7D-BFFD-484A-B327-87C55961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초기 상용화 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4F469-E0C2-4870-A0D6-3530CCC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96100"/>
            <a:ext cx="647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기술적으로는 프로토타입을 넘어 제품화가 진행 중이지만, 완전 자율형 시스템은 아직 오류, 보안, 책임 문제로 제한적입니다.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C98C9-D118-48C6-A89D-FC1DDCA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향후 발전 가능성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59834-B542-40A2-8C04-F4EAEB17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293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단일 에이전트에서 멀티에이전트 협업으로,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개인 비서형 AI에서 기업 전사 업무 플랫폼으로 확장될 가능성이 큽니다.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89602-6154-4CDD-A730-6F08C3E0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762875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주의점: 비용 대비 성과가 불분명하거나 위험 통제가 부족하면 프로젝트가 중단될 수 있으며, 실제 ROI를 보여주는 적용 분야가 중요합니다.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7413E-503F-43DD-84DE-02D952E9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2025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B8A9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7B8A96"/>
                </a:solidFill>
                <a:latin typeface="Malgun Gothic"/>
                <a:ea typeface="Malgun Gothic"/>
                <a:cs typeface="Malgun Gothic"/>
              </a:rPr>
              <a:t>출처: Gartner(2024-10-21, 2025-03-05, 2025-08-26), Microsoft(2024-10-21), Salesforce(2024-09-12)</a:t>
            </a:r>
          </a:p>
        </p:txBody>
      </p:sp>
    </p:spTree>
    <p:extLst>
      <p:ext uri="{BB962C8B-B14F-4D97-AF65-F5344CB8AC3E}">
        <p14:creationId xmlns:p14="http://schemas.microsoft.com/office/powerpoint/2010/main" val="13686789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2F910F0-75D7-4FAC-BC47-EC6A202D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C"/>
          </a:solidFill>
          <a:ln xmlns:a="http://schemas.openxmlformats.org/drawingml/2006/main" w="9525">
            <a:solidFill>
              <a:srgbClr val="FBFC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05862-E858-46E3-B875-865D1CC3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8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C"/>
          </a:solidFill>
          <a:ln xmlns:a="http://schemas.openxmlformats.org/drawingml/2006/main" w="9525">
            <a:solidFill>
              <a:srgbClr val="FBFC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사업화 가능성 및 SWOT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0EDB1-87CC-4C1A-BBE4-B94E381E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524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C"/>
          </a:solidFill>
          <a:ln xmlns:a="http://schemas.openxmlformats.org/drawingml/2006/main" w="9525">
            <a:solidFill>
              <a:srgbClr val="FBFCFC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이 기술은 반복 사무업무 자동화, 생산성 향상, 기업 내 AI 전환과 직접 연결되기 때문에 기술성과 사업성을 동시에 설명하기 좋습니다.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589F3-BDF6-47AD-ABAA-B4400A08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5238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BADAC-6BD9-4593-A3E2-8A0422DF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시장성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72430-EFEB-45F1-ACB5-2DA2FDCA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428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기업용 AI 소프트웨어의 핵심 성장 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3B9A1-9C73-418D-A49E-534D69E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문서작성, 고객응대, 일정관리, 리서치, 내부 협업으로 확장 범위가 넓습니다.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B2F58-088D-4321-B72B-A125B0E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5238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4FD61-1CAE-496A-95EE-9866895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384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수익 모델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B3F83-8FF3-4C8B-A979-4D5AA36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76600"/>
            <a:ext cx="428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SaaS + 맞춤 구축 + 사용량 과금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4E7A2-025D-409A-AB85-871472B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291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기업 구독형, 팀 단위 요금제, API 사용량 과금, 산업별 특화 솔루션으로 수익화가 가능합니다.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532B1-A680-43A7-8737-D10DBD9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571750"/>
            <a:ext cx="5238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4EFF7-8EF6-41A9-B0B8-9C5C059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384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경쟁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2F6A6-C688-496D-93B2-F735E2F2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76600"/>
            <a:ext cx="428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RPA와 챗봇을 넘어서는 실행형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25EEB-FB73-43CD-8D58-3CBEB157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2291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기존 RPA보다 유연하고, 일반 챗봇보다 실제 실행력이 높다는 점이 차별점입니다.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29673-1F6C-4C18-AEB2-D13B52D8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AA500-698F-433D-9C67-0AA8AAB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1250"/>
            <a:ext cx="45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324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ED511-6F0F-4E19-A051-3C5D22D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24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16324F"/>
                </a:solidFill>
                <a:latin typeface="Malgun Gothic"/>
                <a:ea typeface="Malgun Gothic"/>
                <a:cs typeface="Malgun Gothic"/>
              </a:rPr>
              <a:t>Strength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B4823-FD9C-4DC7-9752-6EB4D11A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151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E"/>
          </a:solidFill>
          <a:ln xmlns:a="http://schemas.openxmlformats.org/drawingml/2006/main" w="9525">
            <a:solidFill>
              <a:srgbClr val="DDF4EE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생산성 향상 효과가 직관적이고 적용 산업이 매우 넓음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1C1C3-186D-409E-9BD8-5E26D33D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0550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E9C7"/>
          </a:solidFill>
          <a:ln xmlns:a="http://schemas.openxmlformats.org/drawingml/2006/main" w="9525">
            <a:solidFill>
              <a:srgbClr val="FBE9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903A4-D608-469B-9D99-451D8953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191250"/>
            <a:ext cx="45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C7"/>
          </a:solidFill>
          <a:ln xmlns:a="http://schemas.openxmlformats.org/drawingml/2006/main" w="9525">
            <a:solidFill>
              <a:srgbClr val="FBE9C7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8F650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8F6500"/>
                </a:solidFill>
                <a:latin typeface="Malgun Gothic"/>
                <a:ea typeface="Malgun Gothic"/>
                <a:cs typeface="Malgun Gothic"/>
              </a:rPr>
              <a:t>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A389E-73D3-4146-9517-5D6C2BB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24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C7"/>
          </a:solidFill>
          <a:ln xmlns:a="http://schemas.openxmlformats.org/drawingml/2006/main" w="9525">
            <a:solidFill>
              <a:srgbClr val="FBE9C7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F65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8F6500"/>
                </a:solidFill>
                <a:latin typeface="Malgun Gothic"/>
                <a:ea typeface="Malgun Gothic"/>
                <a:cs typeface="Malgun Gothic"/>
              </a:rPr>
              <a:t>Weakness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69A13-E242-457B-88CC-8BC7648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9151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C7"/>
          </a:solidFill>
          <a:ln xmlns:a="http://schemas.openxmlformats.org/drawingml/2006/main" w="9525">
            <a:solidFill>
              <a:srgbClr val="FBE9C7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오류, 환각, 보안 문제로 인해 신뢰성과 통제가 중요함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625C9-0AED-4164-9A51-21EE937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0550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3F0FB"/>
          </a:solidFill>
          <a:ln xmlns:a="http://schemas.openxmlformats.org/drawingml/2006/main" w="9525">
            <a:solidFill>
              <a:srgbClr val="E3F0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35304-7341-4555-8F39-324DCA9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45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B"/>
          </a:solidFill>
          <a:ln xmlns:a="http://schemas.openxmlformats.org/drawingml/2006/main" w="9525">
            <a:solidFill>
              <a:srgbClr val="E3F0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55B9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255B90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84CAE-1145-4C7C-AFE1-90E7A561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4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B"/>
          </a:solidFill>
          <a:ln xmlns:a="http://schemas.openxmlformats.org/drawingml/2006/main" w="9525">
            <a:solidFill>
              <a:srgbClr val="E3F0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5B9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255B90"/>
                </a:solidFill>
                <a:latin typeface="Malgun Gothic"/>
                <a:ea typeface="Malgun Gothic"/>
                <a:cs typeface="Malgun Gothic"/>
              </a:rPr>
              <a:t>Opportunity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E87A8-1C1F-4292-AD57-CEBEE0E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151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B"/>
          </a:solidFill>
          <a:ln xmlns:a="http://schemas.openxmlformats.org/drawingml/2006/main" w="9525">
            <a:solidFill>
              <a:srgbClr val="E3F0FB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기업의 AI 전환 가속, 개인 비서형 AI 수요 증가, 산업별 특화 시장 확대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D94F0F-DB11-426C-B8D8-39289C94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90550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CE5E3"/>
          </a:solidFill>
          <a:ln xmlns:a="http://schemas.openxmlformats.org/drawingml/2006/main" w="9525">
            <a:solidFill>
              <a:srgbClr val="FCE5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55F68-DE13-406F-8775-94259CB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6191250"/>
            <a:ext cx="45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E3"/>
          </a:solidFill>
          <a:ln xmlns:a="http://schemas.openxmlformats.org/drawingml/2006/main" w="9525">
            <a:solidFill>
              <a:srgbClr val="FCE5E3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A63E39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A63E39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99A32-E04E-4856-B889-5BF6F0B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624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E3"/>
          </a:solidFill>
          <a:ln xmlns:a="http://schemas.openxmlformats.org/drawingml/2006/main" w="9525">
            <a:solidFill>
              <a:srgbClr val="FCE5E3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63E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A63E39"/>
                </a:solidFill>
                <a:latin typeface="Malgun Gothic"/>
                <a:ea typeface="Malgun Gothic"/>
                <a:cs typeface="Malgun Gothic"/>
              </a:rPr>
              <a:t>Threat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B0BC4-E137-4107-B32D-01FF2A6D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69151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E3"/>
          </a:solidFill>
          <a:ln xmlns:a="http://schemas.openxmlformats.org/drawingml/2006/main" w="9525">
            <a:solidFill>
              <a:srgbClr val="FCE5E3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빅테크 경쟁 심화, 규제 강화, ROI 불확실 시 시장 조정 가능성</a:t>
            </a:r>
          </a:p>
        </p:txBody>
      </p:sp>
    </p:spTree>
    <p:extLst>
      <p:ext uri="{BB962C8B-B14F-4D97-AF65-F5344CB8AC3E}">
        <p14:creationId xmlns:p14="http://schemas.microsoft.com/office/powerpoint/2010/main" val="8196724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51E00B6-CC3A-466A-A04A-4CC9EF46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49001-FE48-4632-B069-E3DC4A93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16154400" cy="834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368"/>
          </a:solidFill>
          <a:ln xmlns:a="http://schemas.openxmlformats.org/drawingml/2006/main" w="9525">
            <a:solidFill>
              <a:srgbClr val="1D43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A0519-BF70-4230-B3E9-C597D68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368"/>
          </a:solidFill>
          <a:ln xmlns:a="http://schemas.openxmlformats.org/drawingml/2006/main" w="9525">
            <a:solidFill>
              <a:srgbClr val="1D436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0D4C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60D4C8"/>
                </a:solidFill>
                <a:latin typeface="Malgun Gothic"/>
                <a:ea typeface="Malgun Gothic"/>
                <a:cs typeface="Malgun Gothic"/>
              </a:rPr>
              <a:t>최종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E327A-DEFA-441B-B367-2E1AB1B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781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368"/>
          </a:solidFill>
          <a:ln xmlns:a="http://schemas.openxmlformats.org/drawingml/2006/main" w="9525">
            <a:solidFill>
              <a:srgbClr val="1D436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에이전틱 AI는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'생성형 AI의 다음 단계'이자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가능한 자비스로 가는 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D26DA-7B8A-48B1-B8A4-C7F25CE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0125"/>
            <a:ext cx="723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368"/>
          </a:solidFill>
          <a:ln xmlns:a="http://schemas.openxmlformats.org/drawingml/2006/main" w="9525">
            <a:solidFill>
              <a:srgbClr val="1D436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D9E5F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D9E5F0"/>
                </a:solidFill>
                <a:latin typeface="Malgun Gothic"/>
                <a:ea typeface="Malgun Gothic"/>
                <a:cs typeface="Malgun Gothic"/>
              </a:rPr>
              <a:t>내 프로젝트와 직접 연결되며, 기술적 깊이와 사업화 가능성을 함께 설명할 수 있다는 점에서 발표 주제로 매우 적합합니다.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8A1F3-3F49-4182-9C4A-F1468D6E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14500"/>
            <a:ext cx="5334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C09F0-628C-4957-BD6E-DD8BB141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905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성장 가능성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68067-521B-4586-961B-0C9CD5CF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479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매우 높음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27733-D242-4DDC-AC51-078C1A7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업무 자동화와 기업용 AI 시장의 핵심 축으로 성장 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941D7-215A-4000-B485-B23B39D6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5334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58E25-89AA-4051-BAC0-A5922868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524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투자 가치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ADE2B-2193-4846-98C4-24A911A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67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높지만 선별적 접근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6B8A9-A7C6-4233-BE8D-74D1B2E4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434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화제성보다 실제 성과를 입증하는 업무 영역이 중요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FA619-B9AD-4F9D-BD49-BC88E808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53000"/>
            <a:ext cx="5334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1B978-365E-4768-A2D6-57A8D30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143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선택 이유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983EF-12FA-4F2D-86E4-3BE1731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4864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자비스 프로젝트와 직접 연결됨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C625C-DF9D-4F43-91EC-6F688861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62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F768A"/>
                </a:solidFill>
                <a:latin typeface="Malgun Gothic"/>
                <a:ea typeface="Malgun Gothic"/>
                <a:cs typeface="Malgun Gothic"/>
              </a:rPr>
              <a:t>내 경험과 산업 트렌드를 함께 설명할 수 있는 주제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0251E-ABEA-40AA-8B8A-1829225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72250"/>
            <a:ext cx="5334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48FD2-56E5-41C3-80BC-17410B0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762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EF7A73"/>
                </a:solidFill>
                <a:latin typeface="Malgun Gothic"/>
                <a:ea typeface="Malgun Gothic"/>
                <a:cs typeface="Malgun Gothic"/>
              </a:rPr>
              <a:t>한 줄 결론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2E117-546F-4FE0-AAA1-9BAEE150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1056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3263B"/>
                </a:solidFill>
                <a:latin typeface="Malgun Gothic"/>
                <a:ea typeface="Malgun Gothic"/>
                <a:cs typeface="Malgun Gothic"/>
              </a:rPr>
              <a:t>개발연구 · 서비스혁신 · 중기연구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9075B-E07E-42CA-991E-06059A51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953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368"/>
          </a:solidFill>
          <a:ln xmlns:a="http://schemas.openxmlformats.org/drawingml/2006/main" w="9525">
            <a:solidFill>
              <a:srgbClr val="1D4368"/>
            </a:solidFill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7CBD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B7CBDB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68033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2026-05-11T04:59:46.0310000Z</dcterms:created>
  <dcterms:modified xsi:type="dcterms:W3CDTF">2026-05-11T04:59:46.0310000Z</dcterms:modified>
</coreProperties>
</file>